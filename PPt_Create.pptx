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38150"/>
            <a:ext cx="172669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Here's how we execute. </a:t>
            </a:r>
            <a:pPr algn="l" indent="0" marL="0">
              <a:lnSpc>
                <a:spcPct val="125000"/>
              </a:lnSpc>
              <a:buNone/>
            </a:pPr>
            <a:r>
              <a:rPr lang="en-US" sz="255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workstream connects, every accelerator feeds the next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62000" y="1714500"/>
            <a:ext cx="4162425" cy="438150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4" name="Text 2"/>
          <p:cNvSpPr/>
          <p:nvPr/>
        </p:nvSpPr>
        <p:spPr>
          <a:xfrm>
            <a:off x="699564" y="1714500"/>
            <a:ext cx="42872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Discovery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2525" y="1714500"/>
            <a:ext cx="4162425" cy="438150"/>
          </a:xfrm>
          <a:prstGeom prst="rect">
            <a:avLst/>
          </a:prstGeom>
          <a:solidFill>
            <a:srgbClr val="B7400F"/>
          </a:solidFill>
          <a:ln/>
        </p:spPr>
      </p:sp>
      <p:sp>
        <p:nvSpPr>
          <p:cNvPr id="6" name="Text 4"/>
          <p:cNvSpPr/>
          <p:nvPr/>
        </p:nvSpPr>
        <p:spPr>
          <a:xfrm>
            <a:off x="4900089" y="1714500"/>
            <a:ext cx="42872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Scoping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63050" y="1714500"/>
            <a:ext cx="4162425" cy="4381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9100614" y="1714500"/>
            <a:ext cx="42872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Delivery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363575" y="1714500"/>
            <a:ext cx="4162425" cy="43815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13301139" y="1714500"/>
            <a:ext cx="42872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Stewardship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9564" y="2190750"/>
            <a:ext cx="42872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5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1–4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900089" y="2190750"/>
            <a:ext cx="42872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5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4–6 · Decision Gate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100614" y="2190750"/>
            <a:ext cx="42872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5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7–10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3301139" y="2190750"/>
            <a:ext cx="42872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5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Wk 10–11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99564" y="2590800"/>
            <a:ext cx="42872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spc="9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EXPLORATION &amp; REIMAGINATION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0089" y="2590800"/>
            <a:ext cx="42872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spc="9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PRIORITIZATION &amp; SOLUTION DEFINITION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00614" y="2590800"/>
            <a:ext cx="42872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spc="9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AGENTIC DEV ITERATIONS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301139" y="2590800"/>
            <a:ext cx="42872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spc="9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&amp; TRANSITION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53000" y="2857500"/>
            <a:ext cx="14288" cy="666750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2857500"/>
            <a:ext cx="14288" cy="666750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0" y="2857500"/>
            <a:ext cx="14288" cy="666750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" y="3143250"/>
            <a:ext cx="3725019" cy="1158553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838" y="3252788"/>
            <a:ext cx="3571879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 Insights &amp; Diagnostic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85838" y="3448496"/>
            <a:ext cx="357187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CDA ingests Connect transcripts. L0–L4 taxonomy with volume sizing. Multi-intent detection.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5838" y="3795117"/>
            <a:ext cx="3571879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B7400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Deflection and containment sized independently, not blended.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5838" y="4006528"/>
            <a:ext cx="376014" cy="185738"/>
          </a:xfrm>
          <a:prstGeom prst="roundRect">
            <a:avLst>
              <a:gd name="adj" fmla="val 10256"/>
            </a:avLst>
          </a:prstGeom>
          <a:solidFill>
            <a:srgbClr val="E05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062038" y="4035103"/>
            <a:ext cx="29981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50" b="1" spc="4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57250" y="4397053"/>
            <a:ext cx="3725019" cy="1274713"/>
          </a:xfrm>
          <a:prstGeom prst="roundRect">
            <a:avLst>
              <a:gd name="adj" fmla="val 1494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838" y="4506590"/>
            <a:ext cx="3571879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AI Design Foundations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85838" y="4702299"/>
            <a:ext cx="357187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 definition and brand voice alignment (Heart of Travel → AI behaviour). Design principles, empathy-first dialogue patterns, Spanish-language norms. Prep work so Scaffold hits the ground running once intents are finalized.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5838" y="5376490"/>
            <a:ext cx="838795" cy="185738"/>
          </a:xfrm>
          <a:prstGeom prst="roundRect">
            <a:avLst>
              <a:gd name="adj" fmla="val 10256"/>
            </a:avLst>
          </a:prstGeom>
          <a:solidFill>
            <a:srgbClr val="E05A1A"/>
          </a:solidFill>
          <a:ln/>
        </p:spPr>
      </p:sp>
      <p:sp>
        <p:nvSpPr>
          <p:cNvPr id="32" name="Text 30"/>
          <p:cNvSpPr/>
          <p:nvPr/>
        </p:nvSpPr>
        <p:spPr>
          <a:xfrm>
            <a:off x="1062038" y="5405065"/>
            <a:ext cx="76259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50" b="1" spc="4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Scaffold Prep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57250" y="5767015"/>
            <a:ext cx="3725019" cy="723305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838" y="5876553"/>
            <a:ext cx="3571879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Constraints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85838" y="6072262"/>
            <a:ext cx="357187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Revenue-save tagging. Channel strategy guidance. Identify intents better suited for proactive comms or self-service.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7250" y="9129489"/>
            <a:ext cx="3725019" cy="300261"/>
          </a:xfrm>
          <a:prstGeom prst="roundRect">
            <a:avLst>
              <a:gd name="adj" fmla="val 12689"/>
            </a:avLst>
          </a:prstGeom>
          <a:solidFill>
            <a:srgbClr val="E05A1A"/>
          </a:solidFill>
          <a:ln/>
        </p:spPr>
      </p:sp>
      <p:sp>
        <p:nvSpPr>
          <p:cNvPr id="37" name="Text 35"/>
          <p:cNvSpPr/>
          <p:nvPr/>
        </p:nvSpPr>
        <p:spPr>
          <a:xfrm>
            <a:off x="971550" y="9205689"/>
            <a:ext cx="3608170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 + AI Experience Architects, tied to business outcomes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4944219" y="3143250"/>
            <a:ext cx="3725094" cy="723305"/>
          </a:xfrm>
          <a:prstGeom prst="roundRect">
            <a:avLst>
              <a:gd name="adj" fmla="val 2634"/>
            </a:avLst>
          </a:prstGeom>
          <a:solidFill>
            <a:srgbClr val="FBE7D9"/>
          </a:solidFill>
          <a:ln w="14288">
            <a:solidFill>
              <a:srgbClr val="F0C6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2807" y="3252788"/>
            <a:ext cx="357195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B7400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 &amp; Decision Gate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072807" y="3448496"/>
            <a:ext cx="357195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Automation readiness (1–5). 'Do Not Automate' set. Multi-intent impact. Prioritization workshop. Go / no-go.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44219" y="3961805"/>
            <a:ext cx="3725094" cy="1120453"/>
          </a:xfrm>
          <a:prstGeom prst="roundRect">
            <a:avLst>
              <a:gd name="adj" fmla="val 1700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2807" y="4071342"/>
            <a:ext cx="357195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Interaction Journey Designs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5072807" y="4267051"/>
            <a:ext cx="3571956" cy="5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Conversation flows for prioritized intents. Hospitality tradeoffs. Spanish independently designed. JSON agent definitions for AgentCore.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72807" y="4786982"/>
            <a:ext cx="572021" cy="185738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/>
        </p:spPr>
      </p:sp>
      <p:sp>
        <p:nvSpPr>
          <p:cNvPr id="45" name="Text 43"/>
          <p:cNvSpPr/>
          <p:nvPr/>
        </p:nvSpPr>
        <p:spPr>
          <a:xfrm>
            <a:off x="5149007" y="4815557"/>
            <a:ext cx="49582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50" b="1" spc="45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Scaffold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944219" y="5177507"/>
            <a:ext cx="3725094" cy="877565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2807" y="5287045"/>
            <a:ext cx="357195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Selection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5072807" y="5482754"/>
            <a:ext cx="3571956" cy="5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primary options evaluated: Bedrock + AgentCore (recommended) and Connect AI (Q in Connect). Decision informed by Phase I intent analysis.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44219" y="9129489"/>
            <a:ext cx="3725094" cy="300261"/>
          </a:xfrm>
          <a:prstGeom prst="roundRect">
            <a:avLst>
              <a:gd name="adj" fmla="val 12689"/>
            </a:avLst>
          </a:prstGeom>
          <a:solidFill>
            <a:srgbClr val="E05A1A"/>
          </a:solidFill>
          <a:ln/>
        </p:spPr>
      </p:sp>
      <p:sp>
        <p:nvSpPr>
          <p:cNvPr id="50" name="Text 48"/>
          <p:cNvSpPr/>
          <p:nvPr/>
        </p:nvSpPr>
        <p:spPr>
          <a:xfrm>
            <a:off x="5058519" y="9205689"/>
            <a:ext cx="3608246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Validate, prioritize, design, then refine into solution specs.</a:t>
            </a:r>
            <a:endParaRPr lang="en-US" sz="863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0" r="0" t="0" b="0"/>
          <a:stretch/>
        </p:blipFill>
        <p:spPr>
          <a:xfrm>
            <a:off x="9736894" y="3905250"/>
            <a:ext cx="3292748" cy="3292748"/>
          </a:xfrm>
          <a:prstGeom prst="rect">
            <a:avLst/>
          </a:prstGeom>
        </p:spPr>
      </p:pic>
      <p:sp>
        <p:nvSpPr>
          <p:cNvPr id="52" name="Shape 49"/>
          <p:cNvSpPr/>
          <p:nvPr/>
        </p:nvSpPr>
        <p:spPr>
          <a:xfrm>
            <a:off x="9202713" y="3143250"/>
            <a:ext cx="2132930" cy="805160"/>
          </a:xfrm>
          <a:prstGeom prst="roundRect">
            <a:avLst>
              <a:gd name="adj" fmla="val 2366"/>
            </a:avLst>
          </a:prstGeom>
          <a:solidFill>
            <a:srgbClr val="111111">
              <a:alpha val="88000"/>
            </a:srgbClr>
          </a:solidFill>
          <a:ln w="14288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321775" y="3243263"/>
            <a:ext cx="19710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5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Agentic Delivery Cycle</a:t>
            </a:r>
            <a:endParaRPr lang="en-US" sz="975" dirty="0"/>
          </a:p>
        </p:txBody>
      </p:sp>
      <p:sp>
        <p:nvSpPr>
          <p:cNvPr id="54" name="Text 51"/>
          <p:cNvSpPr/>
          <p:nvPr/>
        </p:nvSpPr>
        <p:spPr>
          <a:xfrm>
            <a:off x="9321775" y="3424238"/>
            <a:ext cx="1971005" cy="46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E8E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engineering · Domain skill dev · Contextualization · Synthetic data · Agent evaluation · LLMOps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11430893" y="3143250"/>
            <a:ext cx="2132930" cy="805160"/>
          </a:xfrm>
          <a:prstGeom prst="roundRect">
            <a:avLst>
              <a:gd name="adj" fmla="val 2366"/>
            </a:avLst>
          </a:prstGeom>
          <a:solidFill>
            <a:srgbClr val="FFFFFF">
              <a:alpha val="78000"/>
            </a:srgbClr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549955" y="3243263"/>
            <a:ext cx="19710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Engineering</a:t>
            </a:r>
            <a:endParaRPr lang="en-US" sz="975" dirty="0"/>
          </a:p>
        </p:txBody>
      </p:sp>
      <p:sp>
        <p:nvSpPr>
          <p:cNvPr id="57" name="Text 54"/>
          <p:cNvSpPr/>
          <p:nvPr/>
        </p:nvSpPr>
        <p:spPr>
          <a:xfrm>
            <a:off x="11549955" y="3424238"/>
            <a:ext cx="1971005" cy="46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reviews · Unit testing · Security review · Product owner validation · Context modelling</a:t>
            </a:r>
            <a:endParaRPr lang="en-US" sz="825" dirty="0"/>
          </a:p>
        </p:txBody>
      </p:sp>
      <p:sp>
        <p:nvSpPr>
          <p:cNvPr id="58" name="Text 55"/>
          <p:cNvSpPr/>
          <p:nvPr/>
        </p:nvSpPr>
        <p:spPr>
          <a:xfrm>
            <a:off x="9137296" y="4081760"/>
            <a:ext cx="449194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Hardening Cycle</a:t>
            </a:r>
            <a:endParaRPr lang="en-US" sz="1125" dirty="0"/>
          </a:p>
        </p:txBody>
      </p:sp>
      <p:sp>
        <p:nvSpPr>
          <p:cNvPr id="59" name="Shape 56"/>
          <p:cNvSpPr/>
          <p:nvPr/>
        </p:nvSpPr>
        <p:spPr>
          <a:xfrm>
            <a:off x="9202713" y="43532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FBE7D9">
              <a:alpha val="72000"/>
            </a:srgbClr>
          </a:solidFill>
          <a:ln w="9525">
            <a:solidFill>
              <a:srgbClr val="F1C6A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221763" y="44294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 Tuning &amp; Tool Integration</a:t>
            </a:r>
            <a:endParaRPr lang="en-US" sz="825" dirty="0"/>
          </a:p>
        </p:txBody>
      </p:sp>
      <p:sp>
        <p:nvSpPr>
          <p:cNvPr id="61" name="Shape 58"/>
          <p:cNvSpPr/>
          <p:nvPr/>
        </p:nvSpPr>
        <p:spPr>
          <a:xfrm>
            <a:off x="11421368" y="43532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FBE7D9">
              <a:alpha val="72000"/>
            </a:srgbClr>
          </a:solidFill>
          <a:ln w="9525">
            <a:solidFill>
              <a:srgbClr val="F1C6A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1440418" y="44294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Scenario Testing &amp; Human Feedback</a:t>
            </a:r>
            <a:endParaRPr lang="en-US" sz="825" dirty="0"/>
          </a:p>
        </p:txBody>
      </p:sp>
      <p:sp>
        <p:nvSpPr>
          <p:cNvPr id="63" name="Shape 60"/>
          <p:cNvSpPr/>
          <p:nvPr/>
        </p:nvSpPr>
        <p:spPr>
          <a:xfrm>
            <a:off x="9202713" y="49628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FBE7D9">
              <a:alpha val="72000"/>
            </a:srgbClr>
          </a:solidFill>
          <a:ln w="9525">
            <a:solidFill>
              <a:srgbClr val="F1C6A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221763" y="50390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Reasoning Eval &amp; Safety Alignment</a:t>
            </a:r>
            <a:endParaRPr lang="en-US" sz="825" dirty="0"/>
          </a:p>
        </p:txBody>
      </p:sp>
      <p:sp>
        <p:nvSpPr>
          <p:cNvPr id="65" name="Shape 62"/>
          <p:cNvSpPr/>
          <p:nvPr/>
        </p:nvSpPr>
        <p:spPr>
          <a:xfrm>
            <a:off x="11421368" y="49628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FBE7D9">
              <a:alpha val="72000"/>
            </a:srgbClr>
          </a:solidFill>
          <a:ln w="9525">
            <a:solidFill>
              <a:srgbClr val="F1C6A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1440418" y="50390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Perf. Tuning &amp; Negative Testing</a:t>
            </a:r>
            <a:endParaRPr lang="en-US" sz="825" dirty="0"/>
          </a:p>
        </p:txBody>
      </p:sp>
      <p:sp>
        <p:nvSpPr>
          <p:cNvPr id="67" name="Shape 64"/>
          <p:cNvSpPr/>
          <p:nvPr/>
        </p:nvSpPr>
        <p:spPr>
          <a:xfrm>
            <a:off x="9202713" y="55724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EDEDED">
              <a:alpha val="72000"/>
            </a:srgbClr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221763" y="56486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Usability Tests</a:t>
            </a:r>
            <a:endParaRPr lang="en-US" sz="825" dirty="0"/>
          </a:p>
        </p:txBody>
      </p:sp>
      <p:sp>
        <p:nvSpPr>
          <p:cNvPr id="69" name="Shape 66"/>
          <p:cNvSpPr/>
          <p:nvPr/>
        </p:nvSpPr>
        <p:spPr>
          <a:xfrm>
            <a:off x="11421368" y="55724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EDEDED">
              <a:alpha val="72000"/>
            </a:srgbClr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1440418" y="56486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Resiliency &amp; Recovery</a:t>
            </a:r>
            <a:endParaRPr lang="en-US" sz="825" dirty="0"/>
          </a:p>
        </p:txBody>
      </p:sp>
      <p:sp>
        <p:nvSpPr>
          <p:cNvPr id="71" name="Shape 68"/>
          <p:cNvSpPr/>
          <p:nvPr/>
        </p:nvSpPr>
        <p:spPr>
          <a:xfrm>
            <a:off x="9202713" y="61820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EDEDED">
              <a:alpha val="72000"/>
            </a:srgbClr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221763" y="62582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Guardrails Validation</a:t>
            </a:r>
            <a:endParaRPr lang="en-US" sz="825" dirty="0"/>
          </a:p>
        </p:txBody>
      </p:sp>
      <p:sp>
        <p:nvSpPr>
          <p:cNvPr id="73" name="Shape 70"/>
          <p:cNvSpPr/>
          <p:nvPr/>
        </p:nvSpPr>
        <p:spPr>
          <a:xfrm>
            <a:off x="11421368" y="6182023"/>
            <a:ext cx="2142455" cy="533400"/>
          </a:xfrm>
          <a:prstGeom prst="roundRect">
            <a:avLst>
              <a:gd name="adj" fmla="val 3571"/>
            </a:avLst>
          </a:prstGeom>
          <a:solidFill>
            <a:srgbClr val="EDEDED">
              <a:alpha val="72000"/>
            </a:srgbClr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1440418" y="6258223"/>
            <a:ext cx="2104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Behavior Drift Analysis</a:t>
            </a:r>
            <a:endParaRPr lang="en-US" sz="825" dirty="0"/>
          </a:p>
        </p:txBody>
      </p:sp>
      <p:sp>
        <p:nvSpPr>
          <p:cNvPr id="75" name="Shape 72"/>
          <p:cNvSpPr/>
          <p:nvPr/>
        </p:nvSpPr>
        <p:spPr>
          <a:xfrm>
            <a:off x="9202713" y="6867823"/>
            <a:ext cx="1208187" cy="247650"/>
          </a:xfrm>
          <a:prstGeom prst="roundRect">
            <a:avLst>
              <a:gd name="adj" fmla="val 7692"/>
            </a:avLst>
          </a:prstGeom>
          <a:solidFill>
            <a:srgbClr val="0B7A6B"/>
          </a:solidFill>
          <a:ln/>
        </p:spPr>
      </p:sp>
      <p:sp>
        <p:nvSpPr>
          <p:cNvPr id="76" name="Text 73"/>
          <p:cNvSpPr/>
          <p:nvPr/>
        </p:nvSpPr>
        <p:spPr>
          <a:xfrm>
            <a:off x="9297963" y="6924973"/>
            <a:ext cx="109388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22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AI Test Suite</a:t>
            </a:r>
            <a:endParaRPr lang="en-US" sz="863" dirty="0"/>
          </a:p>
        </p:txBody>
      </p:sp>
      <p:sp>
        <p:nvSpPr>
          <p:cNvPr id="77" name="Text 74"/>
          <p:cNvSpPr/>
          <p:nvPr/>
        </p:nvSpPr>
        <p:spPr>
          <a:xfrm>
            <a:off x="10506149" y="6917680"/>
            <a:ext cx="2691748" cy="18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QA drives quality from reimagination through delivery.</a:t>
            </a:r>
            <a:endParaRPr lang="en-US" sz="863" dirty="0"/>
          </a:p>
        </p:txBody>
      </p:sp>
      <p:sp>
        <p:nvSpPr>
          <p:cNvPr id="78" name="Shape 75"/>
          <p:cNvSpPr/>
          <p:nvPr/>
        </p:nvSpPr>
        <p:spPr>
          <a:xfrm>
            <a:off x="14097223" y="3143250"/>
            <a:ext cx="3333452" cy="1088975"/>
          </a:xfrm>
          <a:prstGeom prst="roundRect">
            <a:avLst>
              <a:gd name="adj" fmla="val 1749"/>
            </a:avLst>
          </a:prstGeom>
          <a:solidFill>
            <a:srgbClr val="E05A1A"/>
          </a:solidFill>
          <a:ln w="14288">
            <a:solidFill>
              <a:srgbClr val="E05A1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4225811" y="3252788"/>
            <a:ext cx="316856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Launch</a:t>
            </a:r>
            <a:endParaRPr lang="en-US" sz="975" dirty="0"/>
          </a:p>
        </p:txBody>
      </p:sp>
      <p:sp>
        <p:nvSpPr>
          <p:cNvPr id="80" name="Text 77"/>
          <p:cNvSpPr/>
          <p:nvPr/>
        </p:nvSpPr>
        <p:spPr>
          <a:xfrm>
            <a:off x="14225811" y="3448496"/>
            <a:ext cx="3168566" cy="5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7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Pilot-ready AgentCore agent, validated against real Southwest scenarios. Connect routing and rollback thresholds configured. Go-live on SWA's timeline.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4225811" y="3968428"/>
            <a:ext cx="3168566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Production-ready at handoff.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14097223" y="4327475"/>
            <a:ext cx="3333452" cy="723305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4225811" y="4437013"/>
            <a:ext cx="316856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Governance &amp; Handoff</a:t>
            </a:r>
            <a:endParaRPr lang="en-US" sz="975" dirty="0"/>
          </a:p>
        </p:txBody>
      </p:sp>
      <p:sp>
        <p:nvSpPr>
          <p:cNvPr id="84" name="Text 81"/>
          <p:cNvSpPr/>
          <p:nvPr/>
        </p:nvSpPr>
        <p:spPr>
          <a:xfrm>
            <a:off x="14225811" y="4632722"/>
            <a:ext cx="316856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Ownership model. Monitoring plan. Escalation thresholds. Full documentation.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14097223" y="5146030"/>
            <a:ext cx="3333452" cy="723305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 w="14288">
            <a:solidFill>
              <a:srgbClr val="C9C9C9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4225811" y="5255568"/>
            <a:ext cx="316856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Readout</a:t>
            </a:r>
            <a:endParaRPr lang="en-US" sz="975" dirty="0"/>
          </a:p>
        </p:txBody>
      </p:sp>
      <p:sp>
        <p:nvSpPr>
          <p:cNvPr id="87" name="Text 84"/>
          <p:cNvSpPr/>
          <p:nvPr/>
        </p:nvSpPr>
        <p:spPr>
          <a:xfrm>
            <a:off x="14225811" y="5451277"/>
            <a:ext cx="316856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results. Rollout recommendations. Production roadmap.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14097223" y="5964585"/>
            <a:ext cx="3333452" cy="569044"/>
          </a:xfrm>
          <a:prstGeom prst="roundRect">
            <a:avLst>
              <a:gd name="adj" fmla="val 3348"/>
            </a:avLst>
          </a:prstGeom>
          <a:solidFill>
            <a:srgbClr val="111111"/>
          </a:solidFill>
          <a:ln w="14288">
            <a:solidFill>
              <a:srgbClr val="000000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4225811" y="6074122"/>
            <a:ext cx="3168566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Post-Production</a:t>
            </a:r>
            <a:endParaRPr lang="en-US" sz="975" dirty="0"/>
          </a:p>
        </p:txBody>
      </p:sp>
      <p:sp>
        <p:nvSpPr>
          <p:cNvPr id="90" name="Text 87"/>
          <p:cNvSpPr/>
          <p:nvPr/>
        </p:nvSpPr>
        <p:spPr>
          <a:xfrm>
            <a:off x="14225811" y="6269831"/>
            <a:ext cx="3168566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Backlog curation. Scaling plan. Continuous improvement.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762000" y="9689827"/>
            <a:ext cx="3880688" cy="197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56" baseline="30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Architecture — for overall contact center </a:t>
            </a:r>
            <a:pPr algn="l" indent="0" marL="0">
              <a:lnSpc>
                <a:spcPct val="140000"/>
              </a:lnSpc>
              <a:buNone/>
            </a:pPr>
            <a:r>
              <a:rPr lang="en-US" sz="656" baseline="30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 design — only for service</a:t>
            </a:r>
            <a:endParaRPr lang="en-US" sz="788" dirty="0"/>
          </a:p>
        </p:txBody>
      </p:sp>
      <p:sp>
        <p:nvSpPr>
          <p:cNvPr id="92" name="Text 89"/>
          <p:cNvSpPr/>
          <p:nvPr/>
        </p:nvSpPr>
        <p:spPr>
          <a:xfrm>
            <a:off x="762000" y="9801225"/>
            <a:ext cx="3388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PwC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7722022" y="9801225"/>
            <a:ext cx="2536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Southwest Airlines | CARE Voice AI R&amp;D Lab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16879937" y="9801225"/>
            <a:ext cx="7222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2026-04-23T02:11:40Z</dcterms:created>
  <dcterms:modified xsi:type="dcterms:W3CDTF">2026-04-23T02:11:40Z</dcterms:modified>
</cp:coreProperties>
</file>